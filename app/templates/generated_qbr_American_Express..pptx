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E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American Express.</a:t>
            </a:r>
          </a:p>
          <a:p>
            <a:pPr>
              <a:defRPr sz="2200" b="1">
                <a:solidFill>
                  <a:srgbClr val="2B66FF"/>
                </a:solidFill>
              </a:defRPr>
            </a:pPr>
            <a:r>
              <a:t>Business Review —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Dedicated Partnership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6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Mutual Value Plan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2011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C757D"/>
                </a:solidFill>
              </a:defRPr>
            </a:pPr>
            <a:r>
              <a:t>TOTAL ACCOUNT ARR</a:t>
            </a:r>
          </a:p>
          <a:p>
            <a:pPr>
              <a:defRPr sz="2000" b="1">
                <a:solidFill>
                  <a:srgbClr val="2B66FF"/>
                </a:solidFill>
              </a:defRPr>
            </a:pPr>
            <a:r>
              <a:t>$0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No telemetry found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2011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C757D"/>
                </a:solidFill>
              </a:defRPr>
            </a:pPr>
            <a:r>
              <a:t>NEXT RENEWAL ACV</a:t>
            </a:r>
          </a:p>
          <a:p>
            <a:pPr>
              <a:defRPr sz="2000" b="1">
                <a:solidFill>
                  <a:srgbClr val="2B66FF"/>
                </a:solidFill>
              </a:defRPr>
            </a:pPr>
            <a:r>
              <a:t>$0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Upcoming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474720" cy="2011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C757D"/>
                </a:solidFill>
              </a:defRPr>
            </a:pPr>
            <a:r>
              <a:t>TOTAL OPP VALUE</a:t>
            </a:r>
          </a:p>
          <a:p>
            <a:pPr>
              <a:defRPr sz="2000" b="1">
                <a:solidFill>
                  <a:srgbClr val="2B66FF"/>
                </a:solidFill>
              </a:defRPr>
            </a:pPr>
            <a:r>
              <a:t>$0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Active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3474720" cy="2011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C757D"/>
                </a:solidFill>
              </a:defRPr>
            </a:pPr>
            <a:r>
              <a:t>FORECAST ACV</a:t>
            </a:r>
          </a:p>
          <a:p>
            <a:pPr>
              <a:defRPr sz="2000" b="1">
                <a:solidFill>
                  <a:srgbClr val="2B66FF"/>
                </a:solidFill>
              </a:defRPr>
            </a:pPr>
            <a:r>
              <a:t>$0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Forecasted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023360"/>
            <a:ext cx="3474720" cy="2011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C757D"/>
                </a:solidFill>
              </a:defRPr>
            </a:pPr>
            <a:r>
              <a:t>PRODUCT FOOTPRINT</a:t>
            </a:r>
          </a:p>
          <a:p>
            <a:pPr>
              <a:defRPr sz="2000" b="1">
                <a:solidFill>
                  <a:srgbClr val="2B66FF"/>
                </a:solidFill>
              </a:defRPr>
            </a:pPr>
            <a:r>
              <a:t>None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Categorization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023360"/>
            <a:ext cx="3474720" cy="2011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C757D"/>
                </a:solidFill>
              </a:defRPr>
            </a:pPr>
            <a:r>
              <a:t>DATA STATUS</a:t>
            </a:r>
          </a:p>
          <a:p>
            <a:pPr>
              <a:defRPr sz="2000" b="1">
                <a:solidFill>
                  <a:srgbClr val="2B66FF"/>
                </a:solidFill>
              </a:defRPr>
            </a:pPr>
            <a:r>
              <a:t>Verified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Refreshed from BigQuery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CASB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CASB Adoption Analytics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754880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Slide 9: Security Adoption Heatmap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Slide 10: Security Adoption Heatmap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Support Health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97280"/>
            <a:ext cx="4023360" cy="2514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97280"/>
            <a:ext cx="4023360" cy="2514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931920"/>
            <a:ext cx="4023360" cy="2514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3931920"/>
            <a:ext cx="40233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Support Engagement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474720"/>
            <a:ext cx="59436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6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E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
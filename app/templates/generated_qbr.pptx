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Majid Al Futtaim Management Services LLC</a:t>
            </a:r>
          </a:p>
          <a:p>
            <a:pPr>
              <a:defRPr sz="2400" b="1">
                <a:solidFill>
                  <a:srgbClr val="1A56FF"/>
                </a:solidFill>
              </a:defRPr>
            </a:pPr>
            <a:r>
              <a:t>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56FF"/>
                </a:solidFill>
              </a:defRPr>
            </a:pPr>
            <a:r>
              <a:t>Q2 2026,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• Team Introduction</a:t>
            </a:r>
          </a:p>
          <a:p>
            <a:pPr>
              <a:defRPr sz="1800" b="1"/>
            </a:pPr>
            <a:r>
              <a:t>• Executive Summary</a:t>
            </a:r>
          </a:p>
          <a:p>
            <a:pPr>
              <a:defRPr sz="1400"/>
            </a:pPr>
            <a:r>
              <a:t>    o Mutual Value Plan Summary</a:t>
            </a:r>
          </a:p>
          <a:p>
            <a:pPr>
              <a:defRPr sz="1400"/>
            </a:pPr>
            <a:r>
              <a:t>    o Services &amp; Engagement</a:t>
            </a:r>
          </a:p>
          <a:p>
            <a:pPr>
              <a:defRPr sz="1800" b="1"/>
            </a:pPr>
            <a:r>
              <a:t>• Operational Metrics</a:t>
            </a:r>
          </a:p>
          <a:p>
            <a:pPr>
              <a:defRPr sz="1400"/>
            </a:pPr>
            <a:r>
              <a:t>    o Support Engagement</a:t>
            </a:r>
          </a:p>
          <a:p>
            <a:pPr>
              <a:defRPr sz="1400"/>
            </a:pPr>
            <a:r>
              <a:t>    o Adoption Map</a:t>
            </a:r>
          </a:p>
          <a:p>
            <a:pPr>
              <a:defRPr sz="1800" b="1"/>
            </a:pPr>
            <a:r>
              <a:t>• What's Next?</a:t>
            </a:r>
          </a:p>
          <a:p>
            <a:pPr>
              <a:defRPr sz="1400"/>
            </a:pPr>
            <a:r>
              <a:t>    o Why DSPM?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Dedicated Partnership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Mutual Value Plan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011680"/>
          </a:xfrm>
          <a:prstGeom prst="roundRect">
            <a:avLst/>
          </a:prstGeom>
          <a:solidFill>
            <a:srgbClr val="F3F4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$1,261,061</a:t>
            </a:r>
          </a:p>
          <a:p>
            <a:pPr algn="ctr">
              <a:defRPr b="1"/>
            </a:pPr>
            <a:r>
              <a:t>Total Account ARR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2011680"/>
          </a:xfrm>
          <a:prstGeom prst="roundRect">
            <a:avLst/>
          </a:prstGeom>
          <a:solidFill>
            <a:srgbClr val="F3F4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$300,200</a:t>
            </a:r>
          </a:p>
          <a:p>
            <a:pPr algn="ctr">
              <a:defRPr b="1"/>
            </a:pPr>
            <a:r>
              <a:t>Next Renewal ACV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474720" cy="2011680"/>
          </a:xfrm>
          <a:prstGeom prst="roundRect">
            <a:avLst/>
          </a:prstGeom>
          <a:solidFill>
            <a:srgbClr val="F3F4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$3,267,169</a:t>
            </a:r>
          </a:p>
          <a:p>
            <a:pPr algn="ctr">
              <a:defRPr b="1"/>
            </a:pPr>
            <a:r>
              <a:t>Total Opp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3474720" cy="2011680"/>
          </a:xfrm>
          <a:prstGeom prst="roundRect">
            <a:avLst/>
          </a:prstGeom>
          <a:solidFill>
            <a:srgbClr val="F3F4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$3,267,169</a:t>
            </a:r>
          </a:p>
          <a:p>
            <a:pPr algn="ctr">
              <a:defRPr b="1"/>
            </a:pPr>
            <a:r>
              <a:t>Forecast ACV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3474720" cy="2011680"/>
          </a:xfrm>
          <a:prstGeom prst="roundRect">
            <a:avLst/>
          </a:prstGeom>
          <a:solidFill>
            <a:srgbClr val="F3F4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Both (CASB + SWG)</a:t>
            </a:r>
          </a:p>
          <a:p>
            <a:pPr algn="ctr">
              <a:defRPr b="1"/>
            </a:pPr>
            <a:r>
              <a:t>Product Footprint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931920"/>
            <a:ext cx="3474720" cy="2011680"/>
          </a:xfrm>
          <a:prstGeom prst="roundRect">
            <a:avLst/>
          </a:prstGeom>
          <a:solidFill>
            <a:srgbClr val="F3F4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Verified</a:t>
            </a:r>
          </a:p>
          <a:p>
            <a:pPr algn="ctr">
              <a:defRPr b="1"/>
            </a:pPr>
            <a:r>
              <a:t>Data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Product Details - CASB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Detailed Operational Analysis for CASB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Adoption 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85800">
                <a:tc>
                  <a:txBody>
                    <a:bodyPr/>
                    <a:lstStyle/>
                    <a:p>
                      <a:r>
                        <a:t>Security Pillar</a:t>
                      </a:r>
                    </a:p>
                  </a:txBody>
                  <a:tcPr>
                    <a:solidFill>
                      <a:srgbClr val="1A5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Feature Subscribed</a:t>
                      </a:r>
                    </a:p>
                  </a:txBody>
                  <a:tcPr>
                    <a:solidFill>
                      <a:srgbClr val="1A5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Adoption Level</a:t>
                      </a:r>
                    </a:p>
                  </a:txBody>
                  <a:tcPr>
                    <a:solidFill>
                      <a:srgbClr val="1A5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Deployment Mode</a:t>
                      </a:r>
                    </a:p>
                  </a:txBody>
                  <a:tcPr>
                    <a:solidFill>
                      <a:srgbClr val="1A5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Strategic Value</a:t>
                      </a:r>
                    </a:p>
                  </a:txBody>
                  <a:tcPr>
                    <a:solidFill>
                      <a:srgbClr val="1A56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Support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Health Trend: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What's Next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
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Quarterly Business Review</a:t>
            </a:r>
            <a:br/>
            <a:r>
              <a:t>Majid Al Futtaim Management Services Llc</a:t>
            </a:r>
          </a:p>
          <a:p>
            <a:br/>
            <a:pPr>
              <a:defRPr sz="1600">
                <a:solidFill>
                  <a:srgbClr val="94A3B8"/>
                </a:solidFill>
              </a:defRPr>
            </a:pPr>
            <a:r>
              <a:t>Prepared by CS Team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943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b="1">
                <a:solidFill>
                  <a:srgbClr val="0F172A"/>
                </a:solidFill>
              </a:defRPr>
            </a:pPr>
            <a:r>
              <a:t>•  Team Introduction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•  Executive Summary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    ◦  Mutual Value Plan Summary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    ◦  Services &amp; Engagement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    ◦  Voice of Customer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    ◦  Next Steps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•  Operational Metrics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    ◦  Support Engagement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    ◦  Adoption Map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    ◦  Shadow Summary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•  What's Next?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    ◦  Why DSPM?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Dedicated Partnership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6FF"/>
                </a:solidFill>
              </a:defRPr>
            </a:pPr>
            <a:r>
              <a:t>Divya Singh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Customer Success Manager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63040"/>
            <a:ext cx="47548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6FF"/>
                </a:solidFill>
              </a:defRPr>
            </a:pPr>
            <a:r>
              <a:t>Technical Specialist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CS Consultant / Architect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47548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6FF"/>
                </a:solidFill>
              </a:defRPr>
            </a:pPr>
            <a:r>
              <a:t>Account Executive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Commercial Manager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3840480"/>
            <a:ext cx="475488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66FF"/>
                </a:solidFill>
              </a:defRPr>
            </a:pPr>
            <a:r>
              <a:t>Support Engineer</a:t>
            </a:r>
          </a:p>
          <a:p>
            <a:pPr>
              <a:defRPr sz="1300">
                <a:solidFill>
                  <a:srgbClr val="0F172A"/>
                </a:solidFill>
              </a:defRPr>
            </a:pPr>
            <a:r>
              <a:t>Lead Technical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Mutual Value Plan Summary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9441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  <a:gridCol w="2864815"/>
              </a:tblGrid>
              <a:tr h="11430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Goal / Objective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Value Delivered &amp; Progress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Shadow IT Visibility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Configured risk rules and audited 100+ cloud services.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CASB User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Scaled active user base to targets across Q2.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 Progress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t>DLP Policy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Enforced policy checks across core tenant instances.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 Track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Key Operational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USERS PROTECTED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25,000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SSE Advanced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RENEWAL ACV TARGET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$300,200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ARR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PIPELINE ACV VALUE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$3,267,169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Growth Opportunities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PRODUCT FOOTPRINT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Both (CASB + SWG)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Active Entitlements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ACTIVE POLICIES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2,113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DLP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4023360"/>
            <a:ext cx="3474720" cy="201168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CONFIGURED AUDIT RULES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110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Health Audit Passed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CASB Adoption KPIs &amp;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5603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TOTAL ACCOUNT ARR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$1,261,061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88720"/>
            <a:ext cx="25603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ACTIVE USERS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28,000</a:t>
            </a:r>
          </a:p>
          <a:p>
            <a:pPr>
              <a:defRPr sz="800">
                <a:solidFill>
                  <a:srgbClr val="28A745"/>
                </a:solidFill>
              </a:defRPr>
            </a:pPr>
            <a:r>
              <a:t>112.0% 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188720"/>
            <a:ext cx="25603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LICENSED USERS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25,000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188720"/>
            <a:ext cx="256032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/>
          <a:lstStyle/>
          <a:p>
            <a:pPr algn="ctr">
              <a:defRPr sz="800" b="1">
                <a:solidFill>
                  <a:srgbClr val="787878"/>
                </a:solidFill>
              </a:defRPr>
            </a:pPr>
            <a:r>
              <a:t>ACTIVE APPS (EXCL MS)</a:t>
            </a:r>
          </a:p>
          <a:p>
            <a:pPr>
              <a:defRPr sz="1800" b="1">
                <a:solidFill>
                  <a:srgbClr val="0066FF"/>
                </a:solidFill>
              </a:defRPr>
            </a:pPr>
            <a: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468880"/>
          <a:ext cx="1109441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/>
                <a:gridCol w="2218883"/>
                <a:gridCol w="2218883"/>
                <a:gridCol w="2218883"/>
                <a:gridCol w="2218883"/>
              </a:tblGrid>
              <a:tr h="17373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Account Name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Active Users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Licensed Users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User Adoption Tier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CASB Feature Tier</a:t>
                      </a:r>
                    </a:p>
                  </a:txBody>
                  <a:tcPr>
                    <a:solidFill>
                      <a:srgbClr val="0066FF"/>
                    </a:solidFill>
                  </a:tcPr>
                </a:tc>
              </a:tr>
              <a:tr h="1737360">
                <a:tc>
                  <a:txBody>
                    <a:bodyPr/>
                    <a:lstStyle/>
                    <a:p>
                      <a:r>
                        <a:t>Majid Al Futtaim Management Services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CASB Cloud Tenant &amp; Feature Deployment Analytics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4754880" cy="34747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0" y="1371600"/>
          <a:ext cx="6126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/>
                <a:gridCol w="1531620"/>
                <a:gridCol w="1531620"/>
                <a:gridCol w="1531620"/>
              </a:tblGrid>
              <a:tr h="17373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Tenant Name</a:t>
                      </a:r>
                    </a:p>
                  </a:txBody>
                  <a:tcPr>
                    <a:solidFill>
                      <a:srgbClr val="1BC5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1BC5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SaaS Active</a:t>
                      </a:r>
                    </a:p>
                  </a:txBody>
                  <a:tcPr>
                    <a:solidFill>
                      <a:srgbClr val="1BC5B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IaaS Active</a:t>
                      </a:r>
                    </a:p>
                  </a:txBody>
                  <a:tcPr>
                    <a:solidFill>
                      <a:srgbClr val="1BC5BD"/>
                    </a:solidFill>
                  </a:tcPr>
                </a:tc>
              </a:tr>
              <a:tr h="1737360">
                <a:tc>
                  <a:txBody>
                    <a:bodyPr/>
                    <a:lstStyle/>
                    <a:p>
                      <a:r>
                        <a:t>MAJID AL FUTTAIM MANAGEMENT SERVICE S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usprod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 Adoption Map — Part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Product Adoption Map — Part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Support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3017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Health Trend: Case creation peaked in April 2026 with 17 cases but has since stabilized. Currently, about 64% of cases are resolved, while a small portion remains 'With Engineering' or 'Work in Progress,' indicating a healthy throughput.</a:t>
            </a:r>
          </a:p>
          <a:p>
            <a:br/>
            <a:pPr>
              <a:defRPr sz="850"/>
            </a:pPr>
            <a:r>
              <a:t>Key Patterns and Themes</a:t>
            </a:r>
            <a:br/>
            <a:r>
              <a:t>An analysis of the case summaries reveals recurring themes related to user access and identity management. Key terms frequently appearing include:</a:t>
            </a:r>
            <a:br/>
            <a:r>
              <a:t>• Users/User: Mentioned in 14 cases</a:t>
            </a:r>
            <a:br/>
            <a:r>
              <a:t>• Login/Access: Mentioned in 11 cases</a:t>
            </a:r>
            <a:br/>
            <a:r>
              <a:t>• Tenant/Portal: Mentioned in 9 cases</a:t>
            </a:r>
            <a:br/>
            <a:r>
              <a:t>• Certificate: Mentioned in 3 cases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97280"/>
            <a:ext cx="4023360" cy="281635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097280"/>
            <a:ext cx="4023360" cy="281635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840480"/>
            <a:ext cx="4023360" cy="281635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3840480"/>
            <a:ext cx="4023360" cy="24140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Support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• Case Volume:</a:t>
            </a:r>
            <a:br/>
            <a:r>
              <a:t>  1. 54 new cases entered, with 51 cases closed.</a:t>
            </a:r>
            <a:br/>
            <a:r>
              <a:t>  2. Entered incident volume remained stable.</a:t>
            </a:r>
            <a:br/>
            <a:r>
              <a:t>• Resolution Times:</a:t>
            </a:r>
            <a:br/>
            <a:r>
              <a:t>  1. Average Resolution Time (ART): 17 days.</a:t>
            </a:r>
            <a:br/>
            <a:r>
              <a:t>• Case Severity:</a:t>
            </a:r>
            <a:br/>
            <a:r>
              <a:t>  High-severity incidents dropped significantly.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0" y="1097280"/>
          <a:ext cx="5943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411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Month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 Entered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Total Closed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ART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Apr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19.1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May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13.7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Jun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108960"/>
            <a:ext cx="5943600" cy="30676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What's Next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